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t Sarkar" userId="12b57eeb8cb158c3" providerId="LiveId" clId="{BC26783B-1EAD-44C9-A317-A3B83D2477A5}"/>
    <pc:docChg chg="undo custSel addSld modSld">
      <pc:chgData name="Jeet Sarkar" userId="12b57eeb8cb158c3" providerId="LiveId" clId="{BC26783B-1EAD-44C9-A317-A3B83D2477A5}" dt="2025-12-09T18:42:06.266" v="662" actId="20577"/>
      <pc:docMkLst>
        <pc:docMk/>
      </pc:docMkLst>
      <pc:sldChg chg="addSp modSp mod modTransition">
        <pc:chgData name="Jeet Sarkar" userId="12b57eeb8cb158c3" providerId="LiveId" clId="{BC26783B-1EAD-44C9-A317-A3B83D2477A5}" dt="2025-12-09T15:23:02.464" v="651" actId="1076"/>
        <pc:sldMkLst>
          <pc:docMk/>
          <pc:sldMk cId="3597095659" sldId="256"/>
        </pc:sldMkLst>
        <pc:spChg chg="mod">
          <ac:chgData name="Jeet Sarkar" userId="12b57eeb8cb158c3" providerId="LiveId" clId="{BC26783B-1EAD-44C9-A317-A3B83D2477A5}" dt="2025-12-09T15:22:36.833" v="649" actId="27636"/>
          <ac:spMkLst>
            <pc:docMk/>
            <pc:sldMk cId="3597095659" sldId="256"/>
            <ac:spMk id="2" creationId="{B260619F-C5FA-1565-FF87-E3274F0DE2A0}"/>
          </ac:spMkLst>
        </pc:spChg>
        <pc:spChg chg="mod">
          <ac:chgData name="Jeet Sarkar" userId="12b57eeb8cb158c3" providerId="LiveId" clId="{BC26783B-1EAD-44C9-A317-A3B83D2477A5}" dt="2025-12-09T15:23:02.464" v="651" actId="1076"/>
          <ac:spMkLst>
            <pc:docMk/>
            <pc:sldMk cId="3597095659" sldId="256"/>
            <ac:spMk id="3" creationId="{139B5CF2-4999-2CDF-DE1E-43AFEF1768FA}"/>
          </ac:spMkLst>
        </pc:spChg>
        <pc:spChg chg="add mod">
          <ac:chgData name="Jeet Sarkar" userId="12b57eeb8cb158c3" providerId="LiveId" clId="{BC26783B-1EAD-44C9-A317-A3B83D2477A5}" dt="2025-12-09T15:03:45.316" v="568" actId="113"/>
          <ac:spMkLst>
            <pc:docMk/>
            <pc:sldMk cId="3597095659" sldId="256"/>
            <ac:spMk id="5" creationId="{24878031-B476-209C-A4DE-F51EFCBF6B18}"/>
          </ac:spMkLst>
        </pc:spChg>
        <pc:graphicFrameChg chg="add mod">
          <ac:chgData name="Jeet Sarkar" userId="12b57eeb8cb158c3" providerId="LiveId" clId="{BC26783B-1EAD-44C9-A317-A3B83D2477A5}" dt="2025-12-09T14:58:34.467" v="399"/>
          <ac:graphicFrameMkLst>
            <pc:docMk/>
            <pc:sldMk cId="3597095659" sldId="256"/>
            <ac:graphicFrameMk id="4" creationId="{529D6E59-5ED1-9B10-5488-CF39BBD52373}"/>
          </ac:graphicFrameMkLst>
        </pc:graphicFrameChg>
      </pc:sldChg>
      <pc:sldChg chg="modSp mod modTransition">
        <pc:chgData name="Jeet Sarkar" userId="12b57eeb8cb158c3" providerId="LiveId" clId="{BC26783B-1EAD-44C9-A317-A3B83D2477A5}" dt="2025-12-09T15:21:47.442" v="646"/>
        <pc:sldMkLst>
          <pc:docMk/>
          <pc:sldMk cId="2113309377" sldId="257"/>
        </pc:sldMkLst>
        <pc:spChg chg="mod">
          <ac:chgData name="Jeet Sarkar" userId="12b57eeb8cb158c3" providerId="LiveId" clId="{BC26783B-1EAD-44C9-A317-A3B83D2477A5}" dt="2025-12-09T15:21:47.442" v="646"/>
          <ac:spMkLst>
            <pc:docMk/>
            <pc:sldMk cId="2113309377" sldId="257"/>
            <ac:spMk id="4" creationId="{BC143B06-DD90-84C4-60C8-3EE0F02DC54F}"/>
          </ac:spMkLst>
        </pc:spChg>
      </pc:sldChg>
      <pc:sldChg chg="modTransition">
        <pc:chgData name="Jeet Sarkar" userId="12b57eeb8cb158c3" providerId="LiveId" clId="{BC26783B-1EAD-44C9-A317-A3B83D2477A5}" dt="2025-12-09T15:15:41.081" v="631"/>
        <pc:sldMkLst>
          <pc:docMk/>
          <pc:sldMk cId="4185177637" sldId="258"/>
        </pc:sldMkLst>
      </pc:sldChg>
      <pc:sldChg chg="modSp mod modTransition">
        <pc:chgData name="Jeet Sarkar" userId="12b57eeb8cb158c3" providerId="LiveId" clId="{BC26783B-1EAD-44C9-A317-A3B83D2477A5}" dt="2025-12-09T15:21:47.442" v="646"/>
        <pc:sldMkLst>
          <pc:docMk/>
          <pc:sldMk cId="3686032540" sldId="259"/>
        </pc:sldMkLst>
        <pc:spChg chg="mod">
          <ac:chgData name="Jeet Sarkar" userId="12b57eeb8cb158c3" providerId="LiveId" clId="{BC26783B-1EAD-44C9-A317-A3B83D2477A5}" dt="2025-12-09T15:21:47.442" v="646"/>
          <ac:spMkLst>
            <pc:docMk/>
            <pc:sldMk cId="3686032540" sldId="259"/>
            <ac:spMk id="4" creationId="{9C28F228-71EC-0266-098B-AD4D7F301263}"/>
          </ac:spMkLst>
        </pc:spChg>
      </pc:sldChg>
      <pc:sldChg chg="modTransition">
        <pc:chgData name="Jeet Sarkar" userId="12b57eeb8cb158c3" providerId="LiveId" clId="{BC26783B-1EAD-44C9-A317-A3B83D2477A5}" dt="2025-12-09T15:15:41.081" v="631"/>
        <pc:sldMkLst>
          <pc:docMk/>
          <pc:sldMk cId="8686705" sldId="260"/>
        </pc:sldMkLst>
      </pc:sldChg>
      <pc:sldChg chg="modSp mod modTransition">
        <pc:chgData name="Jeet Sarkar" userId="12b57eeb8cb158c3" providerId="LiveId" clId="{BC26783B-1EAD-44C9-A317-A3B83D2477A5}" dt="2025-12-09T15:21:47.442" v="646"/>
        <pc:sldMkLst>
          <pc:docMk/>
          <pc:sldMk cId="1622378374" sldId="261"/>
        </pc:sldMkLst>
        <pc:spChg chg="mod">
          <ac:chgData name="Jeet Sarkar" userId="12b57eeb8cb158c3" providerId="LiveId" clId="{BC26783B-1EAD-44C9-A317-A3B83D2477A5}" dt="2025-12-09T15:21:47.442" v="646"/>
          <ac:spMkLst>
            <pc:docMk/>
            <pc:sldMk cId="1622378374" sldId="261"/>
            <ac:spMk id="2" creationId="{20FAD547-6EAE-9D2D-B08C-D46BC50DF5F6}"/>
          </ac:spMkLst>
        </pc:spChg>
        <pc:spChg chg="mod">
          <ac:chgData name="Jeet Sarkar" userId="12b57eeb8cb158c3" providerId="LiveId" clId="{BC26783B-1EAD-44C9-A317-A3B83D2477A5}" dt="2025-12-09T15:21:47.442" v="646"/>
          <ac:spMkLst>
            <pc:docMk/>
            <pc:sldMk cId="1622378374" sldId="261"/>
            <ac:spMk id="4" creationId="{A3FF2A53-2ACF-49D6-611E-C40CA193974C}"/>
          </ac:spMkLst>
        </pc:spChg>
      </pc:sldChg>
      <pc:sldChg chg="modTransition">
        <pc:chgData name="Jeet Sarkar" userId="12b57eeb8cb158c3" providerId="LiveId" clId="{BC26783B-1EAD-44C9-A317-A3B83D2477A5}" dt="2025-12-09T15:15:41.081" v="631"/>
        <pc:sldMkLst>
          <pc:docMk/>
          <pc:sldMk cId="398373345" sldId="262"/>
        </pc:sldMkLst>
      </pc:sldChg>
      <pc:sldChg chg="addSp delSp modSp mod modTransition">
        <pc:chgData name="Jeet Sarkar" userId="12b57eeb8cb158c3" providerId="LiveId" clId="{BC26783B-1EAD-44C9-A317-A3B83D2477A5}" dt="2025-12-09T16:29:55.564" v="660" actId="1076"/>
        <pc:sldMkLst>
          <pc:docMk/>
          <pc:sldMk cId="1149982695" sldId="263"/>
        </pc:sldMkLst>
        <pc:spChg chg="mod">
          <ac:chgData name="Jeet Sarkar" userId="12b57eeb8cb158c3" providerId="LiveId" clId="{BC26783B-1EAD-44C9-A317-A3B83D2477A5}" dt="2025-12-09T15:21:47.442" v="646"/>
          <ac:spMkLst>
            <pc:docMk/>
            <pc:sldMk cId="1149982695" sldId="263"/>
            <ac:spMk id="2" creationId="{E0BEFE45-006C-0D87-0E80-1E6FB6ADE0E7}"/>
          </ac:spMkLst>
        </pc:spChg>
        <pc:spChg chg="mod">
          <ac:chgData name="Jeet Sarkar" userId="12b57eeb8cb158c3" providerId="LiveId" clId="{BC26783B-1EAD-44C9-A317-A3B83D2477A5}" dt="2025-12-09T15:21:47.442" v="646"/>
          <ac:spMkLst>
            <pc:docMk/>
            <pc:sldMk cId="1149982695" sldId="263"/>
            <ac:spMk id="4" creationId="{28CF19AA-1BBE-AD15-DFA9-C39A2F266320}"/>
          </ac:spMkLst>
        </pc:spChg>
        <pc:spChg chg="add del mod">
          <ac:chgData name="Jeet Sarkar" userId="12b57eeb8cb158c3" providerId="LiveId" clId="{BC26783B-1EAD-44C9-A317-A3B83D2477A5}" dt="2025-12-09T16:29:24.854" v="653" actId="931"/>
          <ac:spMkLst>
            <pc:docMk/>
            <pc:sldMk cId="1149982695" sldId="263"/>
            <ac:spMk id="5" creationId="{F4551ECC-C167-2A94-92E6-DFAB507FD1FA}"/>
          </ac:spMkLst>
        </pc:spChg>
        <pc:picChg chg="del">
          <ac:chgData name="Jeet Sarkar" userId="12b57eeb8cb158c3" providerId="LiveId" clId="{BC26783B-1EAD-44C9-A317-A3B83D2477A5}" dt="2025-12-09T16:29:11.994" v="652" actId="478"/>
          <ac:picMkLst>
            <pc:docMk/>
            <pc:sldMk cId="1149982695" sldId="263"/>
            <ac:picMk id="6" creationId="{D4694ABC-2C65-4478-A118-A5B143D4D9B8}"/>
          </ac:picMkLst>
        </pc:picChg>
        <pc:picChg chg="add mod">
          <ac:chgData name="Jeet Sarkar" userId="12b57eeb8cb158c3" providerId="LiveId" clId="{BC26783B-1EAD-44C9-A317-A3B83D2477A5}" dt="2025-12-09T16:29:55.564" v="660" actId="1076"/>
          <ac:picMkLst>
            <pc:docMk/>
            <pc:sldMk cId="1149982695" sldId="263"/>
            <ac:picMk id="8" creationId="{8AFEB734-4F65-FDE7-BDC4-D8B7D731B8B0}"/>
          </ac:picMkLst>
        </pc:picChg>
      </pc:sldChg>
      <pc:sldChg chg="modTransition">
        <pc:chgData name="Jeet Sarkar" userId="12b57eeb8cb158c3" providerId="LiveId" clId="{BC26783B-1EAD-44C9-A317-A3B83D2477A5}" dt="2025-12-09T15:15:41.081" v="631"/>
        <pc:sldMkLst>
          <pc:docMk/>
          <pc:sldMk cId="2554035130" sldId="264"/>
        </pc:sldMkLst>
      </pc:sldChg>
      <pc:sldChg chg="addSp modSp new mod modTransition">
        <pc:chgData name="Jeet Sarkar" userId="12b57eeb8cb158c3" providerId="LiveId" clId="{BC26783B-1EAD-44C9-A317-A3B83D2477A5}" dt="2025-12-09T18:42:06.266" v="662" actId="20577"/>
        <pc:sldMkLst>
          <pc:docMk/>
          <pc:sldMk cId="3343945047" sldId="265"/>
        </pc:sldMkLst>
        <pc:spChg chg="add mod">
          <ac:chgData name="Jeet Sarkar" userId="12b57eeb8cb158c3" providerId="LiveId" clId="{BC26783B-1EAD-44C9-A317-A3B83D2477A5}" dt="2025-12-09T15:08:43.889" v="621" actId="1076"/>
          <ac:spMkLst>
            <pc:docMk/>
            <pc:sldMk cId="3343945047" sldId="265"/>
            <ac:spMk id="3" creationId="{A699F831-A4CA-7F5D-42E5-A33566C7A4D2}"/>
          </ac:spMkLst>
        </pc:spChg>
        <pc:graphicFrameChg chg="add mod modGraphic">
          <ac:chgData name="Jeet Sarkar" userId="12b57eeb8cb158c3" providerId="LiveId" clId="{BC26783B-1EAD-44C9-A317-A3B83D2477A5}" dt="2025-12-09T18:42:06.266" v="662" actId="20577"/>
          <ac:graphicFrameMkLst>
            <pc:docMk/>
            <pc:sldMk cId="3343945047" sldId="265"/>
            <ac:graphicFrameMk id="2" creationId="{6BA40FBF-C861-48CD-38F3-D3B74DB5241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4566-2E2D-11F5-CD70-A3B1E7F2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A36F9-EEF6-A86D-ED73-5B9D190C1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4F57D-BB72-BFC8-8B94-24FAE04C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A01F6-F275-5788-3C3A-67B5C542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D4870-02C5-B509-6F54-36BA0C9E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60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1D95-2C3E-49F4-F398-837806D2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63409-4A0E-23FE-20AB-54F2D68C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2A4F-2A51-1F18-94F8-54E6A8B2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BD3CE-65E4-0EC8-8418-C48FD52E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B8042-76A9-DB3D-B6F8-652F9153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69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DDFD-EA89-967C-78F8-B42AC632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9FC69-5C1A-FF8A-2389-DB0602482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B407-4952-FEBE-0FF4-987E2ED0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01951-AE79-4AA0-C878-9C2E6A1A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AD909-4CD3-4B59-C548-13A4D812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1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A0D-562B-B122-6E1A-5FE9B1AD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CB3E-CEC8-B674-B625-C09D01DF3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0F393-554F-D72B-4EAB-A2DE938D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CB1D5-2A75-B684-CFE1-B3101CB6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9D417-3286-3B4A-B9AA-3E286D43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49A2E-A1B6-2028-4D1C-F2C24ACC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4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BD25-6C8C-F89F-86EF-668CF150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74D22-F927-C33A-57AF-A090DC783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2E936-EB59-B490-32E8-C1FB23DDC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04473-55B3-8E5F-9DD4-F3199A869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5CC38-B3C5-F951-5DC4-A293EBCC7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CC310-9D1D-E6EE-84C4-3471C4AC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FF3A5-D546-442B-6FBE-E1DBD1ED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16346-DCFC-5894-A2EE-066AE415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82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E920-73A8-64AA-9595-676FDC5F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A1BAF-1B27-3878-3A0E-EA73344B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B1C80-6AA9-43FB-B7CE-E7A40BAE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3F3D0-2EA6-7B94-8366-5E3836AC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0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6AF80-9F99-E286-4411-CE24E057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CE439F-A0B7-4BB5-F3E1-C350883D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7EC08-A21F-1C57-2ECC-301454B5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77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113F-DB86-F5F7-E421-31186631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D83A9-8335-8673-19F3-F5EB70124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2E16E-241C-19B9-2B61-B85BA0F6C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83982-30F8-2F57-47FD-876D6713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218A8-BDCC-E117-ACC1-240C609B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8BCDE-B2CB-0DD3-D6D1-0F8F44EE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63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AF6F-50CB-8F35-AC2C-CC53F3D3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201EF-7621-A672-3FF8-28E721DBF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15D1F-6EC0-3CF5-9421-DAC4427C2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602E8-E206-FFB5-C4DD-A14351E7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CE5FD-A5C5-50B8-746E-36478CE0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DCBCE-4629-EE4F-6AD0-C21CA76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2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BB66-C149-4C90-CE39-22D342ED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2477A-D2FA-C00A-673C-BA5BF0026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C91F4-3A19-BBFF-5DF3-3BDE559B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D9544-2F79-1E23-7DF5-231D8C3E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53D4A-B8C3-15DA-FE78-0A3BED0F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0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AFCF3-F919-1127-5754-79AAA3AC0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38B9D-E388-1BE1-8FA9-F5B497F30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059E8-59BA-4886-D51B-D4B1DB10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BCBB-686E-1E24-74E2-A371D5D5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2905D-15A8-D0B2-B0C2-A07BCEB6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0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248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3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595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5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6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08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809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94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829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20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3566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8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0636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33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728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30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24539-85DA-EE6C-568B-CFD6886B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B32AC-80F2-1C15-31D4-7EA3ED417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2897D-BD3D-3998-AA44-1B77F96F2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ABADA-3E7B-4777-0F13-8ACC98B64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67DED-D742-73B6-8ECA-D2A1F232D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28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1BE-0DD3-43B8-B212-95DBAAD52255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07B342-63C3-4466-9C7F-6C75F47F4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1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619F-C5FA-1565-FF87-E3274F0DE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8143" y="1905802"/>
            <a:ext cx="7815714" cy="747511"/>
          </a:xfrm>
        </p:spPr>
        <p:txBody>
          <a:bodyPr>
            <a:norm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E-Commerce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B5CF2-4999-2CDF-DE1E-43AFEF176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0766" y="4665227"/>
            <a:ext cx="9144000" cy="1277970"/>
          </a:xfrm>
        </p:spPr>
        <p:txBody>
          <a:bodyPr>
            <a:normAutofit/>
          </a:bodyPr>
          <a:lstStyle/>
          <a:p>
            <a:pPr algn="l"/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Data Source Credit: Kaggle (Brazilian E-Commerce Public Dataset by </a:t>
            </a:r>
            <a:r>
              <a:rPr lang="en-IN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Olist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algn="l"/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Presented By: </a:t>
            </a: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Jeet Sarkar</a:t>
            </a:r>
          </a:p>
          <a:p>
            <a:pPr algn="l"/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Technical Credit: Excel, SQL, Power BI </a:t>
            </a:r>
          </a:p>
          <a:p>
            <a:pPr algn="l"/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78031-B476-209C-A4DE-F51EFCBF6B18}"/>
              </a:ext>
            </a:extLst>
          </p:cNvPr>
          <p:cNvSpPr txBox="1"/>
          <p:nvPr/>
        </p:nvSpPr>
        <p:spPr>
          <a:xfrm>
            <a:off x="2756033" y="3320716"/>
            <a:ext cx="667993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Data-Driven strategy for E-Commerce Platform</a:t>
            </a:r>
          </a:p>
          <a:p>
            <a:pPr algn="ctr"/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9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6A9A-F01B-F576-D87D-94CB0E3B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322" y="336883"/>
            <a:ext cx="3989355" cy="563077"/>
          </a:xfrm>
        </p:spPr>
        <p:txBody>
          <a:bodyPr>
            <a:no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Sales &amp; Revenue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ACF7FA-771F-A478-73D5-A747A26BE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"/>
          <a:stretch/>
        </p:blipFill>
        <p:spPr>
          <a:xfrm>
            <a:off x="4309507" y="1292192"/>
            <a:ext cx="7562339" cy="427361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43B06-DD90-84C4-60C8-3EE0F02DC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756" y="1078030"/>
            <a:ext cx="3758982" cy="5120640"/>
          </a:xfrm>
        </p:spPr>
        <p:txBody>
          <a:bodyPr>
            <a:normAutofit lnSpcReduction="10000"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Insights: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Strong Revenue Growth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Total Revenue has grown dramatically from $0.05M in 2016 to $8.45M in 2018.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Payment Dominance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Credit Card accounts for 78% of revenue.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Boleto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is second highest at 18%.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Order Volatility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Total Orders show a distinct seasonal pattern: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Peak in Q2 (29.3K orders).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Drop in Q3 (25.5K orders).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Significant decline in Q4 (18.2K orders).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Geographic Concentration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Top 5 states by revenue are concentrated in southeast/south Brazil, with Sao Paulo (SP) leading.</a:t>
            </a:r>
          </a:p>
          <a:p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0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589D1-62B9-E85E-630A-4F61DB84E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" t="-1" r="1320" b="1312"/>
          <a:stretch/>
        </p:blipFill>
        <p:spPr>
          <a:xfrm>
            <a:off x="6253213" y="434446"/>
            <a:ext cx="5380522" cy="26134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BD2D52-C02B-3D01-8CDB-FE77E8322199}"/>
              </a:ext>
            </a:extLst>
          </p:cNvPr>
          <p:cNvSpPr txBox="1"/>
          <p:nvPr/>
        </p:nvSpPr>
        <p:spPr>
          <a:xfrm>
            <a:off x="471638" y="1974223"/>
            <a:ext cx="562436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Q4 Strategy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Develop robust Q4 marketing and sales campaigns to mitigate the sharp drop in orders.</a:t>
            </a:r>
          </a:p>
          <a:p>
            <a:pPr algn="l"/>
            <a:endParaRPr lang="en-US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Payment Method Incentives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Optimize credit card transaction costs.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Offer incentives for customers to use </a:t>
            </a:r>
            <a:r>
              <a:rPr lang="en-US" sz="1600" b="0" i="0" dirty="0" err="1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Boleto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(18%) to increase its usage.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05822-D944-522D-1DC7-783235EAE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212" y="3359218"/>
            <a:ext cx="5428007" cy="26832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51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9097-B5BC-31C9-8BEA-54EA5016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658" y="291165"/>
            <a:ext cx="4640683" cy="520612"/>
          </a:xfrm>
        </p:spPr>
        <p:txBody>
          <a:bodyPr>
            <a:no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Product &amp; Category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E535B5-DDDB-69C7-E77D-3C8C0D67D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9"/>
          <a:stretch/>
        </p:blipFill>
        <p:spPr>
          <a:xfrm>
            <a:off x="4234040" y="1288582"/>
            <a:ext cx="7688450" cy="42808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8F228-71EC-0266-098B-AD4D7F301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1500" y="961322"/>
            <a:ext cx="3932237" cy="5611529"/>
          </a:xfrm>
        </p:spPr>
        <p:txBody>
          <a:bodyPr>
            <a:normAutofit lnSpcReduction="10000"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 Categories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Health &amp; Beauty: $1.44M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Watches &amp; Gifts: $1.31M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Computers &amp; Accessories: $1.06M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Monthly Revenue Drivers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 peak months (March, May, July), Bed &amp; Bath/Table, Computers &amp; Accessories, and Health &amp; Beauty consistently drive base revenue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Price vs. Volume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Health &amp; Beauty: Highest average price ($130), lowest volume (~10K)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Furniture &amp; Decor: Lowest average price ($88), highest volume (~22K)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Freight Cost Disparity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Furniture &amp; Decor: Highest average freight value ($20.80)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Bed &amp; Bath/Table: Lowest average freight value ($18.40)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3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D61A2-BA69-C0E5-D2CE-58CB0553FF90}"/>
              </a:ext>
            </a:extLst>
          </p:cNvPr>
          <p:cNvSpPr txBox="1"/>
          <p:nvPr/>
        </p:nvSpPr>
        <p:spPr>
          <a:xfrm>
            <a:off x="490889" y="1472428"/>
            <a:ext cx="510139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High-Volume/Low-Price Strategy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Optimize logistics for Furniture &amp; Decor to reduce high freight costs and maximize profitability.</a:t>
            </a:r>
          </a:p>
          <a:p>
            <a:pPr algn="l"/>
            <a:endParaRPr lang="en-US" sz="1600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/>
            <a:endParaRPr lang="en-US" sz="1600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Low-Volume/High-Price Strategy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For Health &amp; Beauty, explore product bundling or subscriptions to increase average order volume without reducing the high product price.</a:t>
            </a:r>
            <a:endParaRPr lang="en-US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24769-36DB-CD8B-2731-D1AD4E3F8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793" b="1191"/>
          <a:stretch/>
        </p:blipFill>
        <p:spPr>
          <a:xfrm>
            <a:off x="6397590" y="385011"/>
            <a:ext cx="5303521" cy="26878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20E5B8-FF61-47EC-ECBF-F54E82D89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45" y="3429000"/>
            <a:ext cx="5306566" cy="28081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D547-6EAE-9D2D-B08C-D46BC50D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881" y="239061"/>
            <a:ext cx="3932237" cy="673768"/>
          </a:xfrm>
        </p:spPr>
        <p:txBody>
          <a:bodyPr>
            <a:norm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Customer &amp; CLV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4E2286-ACEA-4E12-6E46-D56BDDE5F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" r="585" b="979"/>
          <a:stretch/>
        </p:blipFill>
        <p:spPr>
          <a:xfrm>
            <a:off x="4344608" y="1321067"/>
            <a:ext cx="7495987" cy="42158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F2A53-2ACF-49D6-611E-C40CA193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7644" y="1321067"/>
            <a:ext cx="3932237" cy="4405965"/>
          </a:xfrm>
        </p:spPr>
        <p:txBody>
          <a:bodyPr>
            <a:normAutofit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Customer Acquisition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Grew from 0K in 2016 to 53K in 2018.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Monthly acquisition peaked at 7.4K customers in January 2018.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Significant drop-off towards end of 2018 (down to 0.8K).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Geographic CLV Concentration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Sao Paulo (SP): $6.0M CLV.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Rio de Janeiro (RJ): $2.1M CLV.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 reliance on SP confirmed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 Customers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 10 customers have total CLV of $74,297.11, with top individual customer at $13,664.08 .</a:t>
            </a:r>
          </a:p>
          <a:p>
            <a:endParaRPr lang="en-IN" sz="2000" b="1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2000" b="1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F7954-F33C-9DC8-DC5C-FA6CD5652937}"/>
              </a:ext>
            </a:extLst>
          </p:cNvPr>
          <p:cNvSpPr txBox="1"/>
          <p:nvPr/>
        </p:nvSpPr>
        <p:spPr>
          <a:xfrm>
            <a:off x="381887" y="6135270"/>
            <a:ext cx="749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Note: CLV stands for Customer Lifetime Value.</a:t>
            </a:r>
          </a:p>
        </p:txBody>
      </p:sp>
    </p:spTree>
    <p:extLst>
      <p:ext uri="{BB962C8B-B14F-4D97-AF65-F5344CB8AC3E}">
        <p14:creationId xmlns:p14="http://schemas.microsoft.com/office/powerpoint/2010/main" val="16223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4A651-83A5-C266-3B60-559AB52CCC5F}"/>
              </a:ext>
            </a:extLst>
          </p:cNvPr>
          <p:cNvSpPr txBox="1"/>
          <p:nvPr/>
        </p:nvSpPr>
        <p:spPr>
          <a:xfrm>
            <a:off x="374368" y="1205425"/>
            <a:ext cx="519122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CLV Expansion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Target campaigns in high-potential states (MG: $1.9M CLV, RS: $0.9M CLV).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Convert new customers into repeat buyers to decrease over-reliance on SP.</a:t>
            </a:r>
          </a:p>
          <a:p>
            <a:pPr lvl="1" algn="l"/>
            <a:endParaRPr lang="en-US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Churn Mitigation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Investigate reasons for significant drop in customer acquisition in latter half of 2018: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Marketing spend changes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Competitor activity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Technical issues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4A8680-91F0-48E0-6B86-CC90BF42F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90" y="1166924"/>
            <a:ext cx="6112042" cy="39363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3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FE45-006C-0D87-0E80-1E6FB6AD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900" y="451184"/>
            <a:ext cx="3730199" cy="502644"/>
          </a:xfrm>
        </p:spPr>
        <p:txBody>
          <a:bodyPr>
            <a:norm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Seller &amp; Delivery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F19AA-1BBE-AD15-DFA9-C39A2F266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770" y="1329212"/>
            <a:ext cx="3992095" cy="5467149"/>
          </a:xfrm>
        </p:spPr>
        <p:txBody>
          <a:bodyPr>
            <a:normAutofit lnSpcReduction="10000"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 Review Score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Average review score: 4.09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Distribution skewed toward positive ratings (1,014 reviews at 4 stars, 222 at 5 stars)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Only 16 reviews are 2-stars or 1-star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Seller Performance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 sellers maintain excellent Review Score of 4.00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Top seller has 2,013 total reviews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Delivery Delay Volatility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 monthly fluctuation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Peak in April (1,714) and August (1,464)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Highest Delay States</a:t>
            </a:r>
            <a:r>
              <a:rPr lang="en-US" sz="18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AL: 27.00%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MA: 20.00%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PI: 17.00%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FEB734-4F65-FDE7-BDC4-D8B7D731B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65" y="1329212"/>
            <a:ext cx="7692168" cy="43192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998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A1616-0941-CC14-5181-5233BD26E010}"/>
              </a:ext>
            </a:extLst>
          </p:cNvPr>
          <p:cNvSpPr txBox="1"/>
          <p:nvPr/>
        </p:nvSpPr>
        <p:spPr>
          <a:xfrm>
            <a:off x="924027" y="1182231"/>
            <a:ext cx="494738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Logistics Deep-Dive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Focus on April and August to identify and resolve root causes of delivery spikes.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Consider increasing carrier capacity or changing primary carrier during these months.</a:t>
            </a:r>
          </a:p>
          <a:p>
            <a:pPr lvl="1" algn="l"/>
            <a:endParaRPr lang="en-US" b="0" i="0" dirty="0">
              <a:solidFill>
                <a:srgbClr val="4E4E4E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High-Risk State Intervention</a:t>
            </a:r>
            <a:r>
              <a:rPr lang="en-US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Prioritize improving logistics in AL, MA, and PI.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Offer premium shipping options in these states.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E4E4E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Partner with local, reliable carriers to reduce delay percentages.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83451-EB47-B22F-9F62-7156419D4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925" y="3746635"/>
            <a:ext cx="4947385" cy="28322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AB8B73-EA59-6F97-F8FD-53A9F5FAD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925" y="490889"/>
            <a:ext cx="4947385" cy="28322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03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A40FBF-C861-48CD-38F3-D3B74DB52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186366"/>
              </p:ext>
            </p:extLst>
          </p:nvPr>
        </p:nvGraphicFramePr>
        <p:xfrm>
          <a:off x="619225" y="612810"/>
          <a:ext cx="10953549" cy="597355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48510">
                  <a:extLst>
                    <a:ext uri="{9D8B030D-6E8A-4147-A177-3AD203B41FA5}">
                      <a16:colId xmlns:a16="http://schemas.microsoft.com/office/drawing/2014/main" val="1417086643"/>
                    </a:ext>
                  </a:extLst>
                </a:gridCol>
                <a:gridCol w="3039467">
                  <a:extLst>
                    <a:ext uri="{9D8B030D-6E8A-4147-A177-3AD203B41FA5}">
                      <a16:colId xmlns:a16="http://schemas.microsoft.com/office/drawing/2014/main" val="692530499"/>
                    </a:ext>
                  </a:extLst>
                </a:gridCol>
                <a:gridCol w="3032786">
                  <a:extLst>
                    <a:ext uri="{9D8B030D-6E8A-4147-A177-3AD203B41FA5}">
                      <a16:colId xmlns:a16="http://schemas.microsoft.com/office/drawing/2014/main" val="2676111369"/>
                    </a:ext>
                  </a:extLst>
                </a:gridCol>
                <a:gridCol w="3032786">
                  <a:extLst>
                    <a:ext uri="{9D8B030D-6E8A-4147-A177-3AD203B41FA5}">
                      <a16:colId xmlns:a16="http://schemas.microsoft.com/office/drawing/2014/main" val="3925672148"/>
                    </a:ext>
                  </a:extLst>
                </a:gridCol>
              </a:tblGrid>
              <a:tr h="313822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Category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Key Insight Summary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Final Recommendation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</a:rPr>
                        <a:t>Business Impact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76126"/>
                  </a:ext>
                </a:extLst>
              </a:tr>
              <a:tr h="1061456">
                <a:tc>
                  <a:txBody>
                    <a:bodyPr/>
                    <a:lstStyle/>
                    <a:p>
                      <a:pPr rtl="0"/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Sales Growth &amp; Stability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Revenue is growing strongly (up to $8.45M in 2018), but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Orders drop sharply in Q4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(18.2K orders), indicating high seasonal volatility.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Launch a Strategic Q4 Sales Campaign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focused on promotions/discounts to stabilize order volume and prevent the year-end decline.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Maintain consistent revenue flow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and maximize annual order count.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7225"/>
                  </a:ext>
                </a:extLst>
              </a:tr>
              <a:tr h="1061456">
                <a:tc>
                  <a:txBody>
                    <a:bodyPr/>
                    <a:lstStyle/>
                    <a:p>
                      <a:pPr rtl="0"/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Logistics &amp; Delivery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Late orders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peak consistently in April and August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. State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AL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has the highest delay percentage (27%).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Conduct a Root Cause Analysis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on carrier performance in April/August and establish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premium/local carrier partnership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for high-delay states (AL, MA, PI).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Protect the strong 4.09 Avg Review Score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and reduce customer complaints related to delivery.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421224"/>
                  </a:ext>
                </a:extLst>
              </a:tr>
              <a:tr h="1083594">
                <a:tc>
                  <a:txBody>
                    <a:bodyPr/>
                    <a:lstStyle/>
                    <a:p>
                      <a:pPr rtl="0"/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Customer Acquisition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Customer acquisition shows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significant drop-off in the latter half of 2018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(from 7.4K to 0.8K customers/month).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Investigate and Address the 2018 Acquisition Decline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by reviewing marketing spend, competitive landscape, and channel performance during that period.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Ensure a steady pipeline of new customers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to sustain the overall revenue growth trend.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22835"/>
                  </a:ext>
                </a:extLst>
              </a:tr>
              <a:tr h="1061456">
                <a:tc>
                  <a:txBody>
                    <a:bodyPr/>
                    <a:lstStyle/>
                    <a:p>
                      <a:pPr rtl="0"/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Geographic Strategy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Sao Paulo (SP)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dominates both Total Revenue and Customer Lifetime Value ($6.0M CLV), creating high geographic risk.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Shift Marketing Spend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to increase customer acquisition in states with lower CLV but high potential (e.g., MG, RS) to diversify the customer base.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Mitigate geographic risk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and unlock new, untapped markets for long-term value.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667821"/>
                  </a:ext>
                </a:extLst>
              </a:tr>
              <a:tr h="1061456">
                <a:tc>
                  <a:txBody>
                    <a:bodyPr/>
                    <a:lstStyle/>
                    <a:p>
                      <a:pPr rtl="0"/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Product Strategy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High-price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Health &amp; Beauty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has low volume. Low-price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Furniture &amp; Decor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has the highest volume but also the highest freight cost.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For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Health &amp; Beauty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implement subscription/bundling to increase volume. For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Furniture &amp; Decor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optimize shipping methods to reduce freight cost.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Improve profitability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for both high-value (price) and high-volume product categories.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1157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99F831-A4CA-7F5D-42E5-A33566C7A4D2}"/>
              </a:ext>
            </a:extLst>
          </p:cNvPr>
          <p:cNvSpPr txBox="1"/>
          <p:nvPr/>
        </p:nvSpPr>
        <p:spPr>
          <a:xfrm>
            <a:off x="4156508" y="28876"/>
            <a:ext cx="3878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Final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34394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94</TotalTime>
  <Words>1002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Century Gothic</vt:lpstr>
      <vt:lpstr>Google Sans Text</vt:lpstr>
      <vt:lpstr>Wingdings 3</vt:lpstr>
      <vt:lpstr>Office Theme</vt:lpstr>
      <vt:lpstr>Wisp</vt:lpstr>
      <vt:lpstr>E-Commerce Performance Analysis</vt:lpstr>
      <vt:lpstr>Sales &amp; Revenue Analysis</vt:lpstr>
      <vt:lpstr>PowerPoint Presentation</vt:lpstr>
      <vt:lpstr>Product &amp; Category Analysis</vt:lpstr>
      <vt:lpstr>PowerPoint Presentation</vt:lpstr>
      <vt:lpstr>Customer &amp; CLV Analysis</vt:lpstr>
      <vt:lpstr>PowerPoint Presentation</vt:lpstr>
      <vt:lpstr>Seller &amp; Delivery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Jeet Sarkar</dc:creator>
  <cp:lastModifiedBy>Jeet Sarkar</cp:lastModifiedBy>
  <cp:revision>1</cp:revision>
  <dcterms:created xsi:type="dcterms:W3CDTF">2025-12-08T20:14:53Z</dcterms:created>
  <dcterms:modified xsi:type="dcterms:W3CDTF">2025-12-09T19:01:31Z</dcterms:modified>
</cp:coreProperties>
</file>